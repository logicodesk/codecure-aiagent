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5" r:id="rId6"/>
    <p:sldId id="267" r:id="rId7"/>
    <p:sldId id="266" r:id="rId8"/>
    <p:sldId id="262" r:id="rId9"/>
    <p:sldId id="260" r:id="rId10"/>
    <p:sldId id="263" r:id="rId11"/>
    <p:sldId id="264" r:id="rId12"/>
    <p:sldId id="261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425EF-5A9D-4588-BA17-07C5F8E56123}" v="14" dt="2026-04-03T18:39:24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B328D22C-8157-7D40-D25E-7DCE7CD3A69E}"/>
    <pc:docChg chg="modSld sldOrd">
      <pc:chgData name="Guest User" userId="" providerId="Windows Live" clId="Web-{B328D22C-8157-7D40-D25E-7DCE7CD3A69E}" dt="2026-04-03T19:07:02.483" v="44" actId="20577"/>
      <pc:docMkLst>
        <pc:docMk/>
      </pc:docMkLst>
      <pc:sldChg chg="modSp">
        <pc:chgData name="Guest User" userId="" providerId="Windows Live" clId="Web-{B328D22C-8157-7D40-D25E-7DCE7CD3A69E}" dt="2026-04-03T18:51:30.620" v="15" actId="20577"/>
        <pc:sldMkLst>
          <pc:docMk/>
          <pc:sldMk cId="0" sldId="261"/>
        </pc:sldMkLst>
        <pc:spChg chg="mod">
          <ac:chgData name="Guest User" userId="" providerId="Windows Live" clId="Web-{B328D22C-8157-7D40-D25E-7DCE7CD3A69E}" dt="2026-04-03T18:51:30.620" v="15" actId="20577"/>
          <ac:spMkLst>
            <pc:docMk/>
            <pc:sldMk cId="0" sldId="261"/>
            <ac:spMk id="12" creationId="{00000000-0000-0000-0000-000000000000}"/>
          </ac:spMkLst>
        </pc:spChg>
      </pc:sldChg>
      <pc:sldChg chg="ord">
        <pc:chgData name="Guest User" userId="" providerId="Windows Live" clId="Web-{B328D22C-8157-7D40-D25E-7DCE7CD3A69E}" dt="2026-04-03T19:02:52.905" v="19"/>
        <pc:sldMkLst>
          <pc:docMk/>
          <pc:sldMk cId="0" sldId="262"/>
        </pc:sldMkLst>
      </pc:sldChg>
      <pc:sldChg chg="ord">
        <pc:chgData name="Guest User" userId="" providerId="Windows Live" clId="Web-{B328D22C-8157-7D40-D25E-7DCE7CD3A69E}" dt="2026-04-03T19:03:52.640" v="20"/>
        <pc:sldMkLst>
          <pc:docMk/>
          <pc:sldMk cId="0" sldId="263"/>
        </pc:sldMkLst>
      </pc:sldChg>
      <pc:sldChg chg="ord">
        <pc:chgData name="Guest User" userId="" providerId="Windows Live" clId="Web-{B328D22C-8157-7D40-D25E-7DCE7CD3A69E}" dt="2026-04-03T19:05:30.741" v="21"/>
        <pc:sldMkLst>
          <pc:docMk/>
          <pc:sldMk cId="0" sldId="264"/>
        </pc:sldMkLst>
      </pc:sldChg>
      <pc:sldChg chg="ord">
        <pc:chgData name="Guest User" userId="" providerId="Windows Live" clId="Web-{B328D22C-8157-7D40-D25E-7DCE7CD3A69E}" dt="2026-04-03T18:58:29.681" v="16"/>
        <pc:sldMkLst>
          <pc:docMk/>
          <pc:sldMk cId="0" sldId="265"/>
        </pc:sldMkLst>
      </pc:sldChg>
      <pc:sldChg chg="ord">
        <pc:chgData name="Guest User" userId="" providerId="Windows Live" clId="Web-{B328D22C-8157-7D40-D25E-7DCE7CD3A69E}" dt="2026-04-03T19:01:24.388" v="18"/>
        <pc:sldMkLst>
          <pc:docMk/>
          <pc:sldMk cId="0" sldId="266"/>
        </pc:sldMkLst>
      </pc:sldChg>
      <pc:sldChg chg="ord">
        <pc:chgData name="Guest User" userId="" providerId="Windows Live" clId="Web-{B328D22C-8157-7D40-D25E-7DCE7CD3A69E}" dt="2026-04-03T19:00:29.918" v="17"/>
        <pc:sldMkLst>
          <pc:docMk/>
          <pc:sldMk cId="0" sldId="267"/>
        </pc:sldMkLst>
      </pc:sldChg>
      <pc:sldChg chg="modSp">
        <pc:chgData name="Guest User" userId="" providerId="Windows Live" clId="Web-{B328D22C-8157-7D40-D25E-7DCE7CD3A69E}" dt="2026-04-03T18:47:24.458" v="13" actId="20577"/>
        <pc:sldMkLst>
          <pc:docMk/>
          <pc:sldMk cId="0" sldId="268"/>
        </pc:sldMkLst>
        <pc:spChg chg="mod">
          <ac:chgData name="Guest User" userId="" providerId="Windows Live" clId="Web-{B328D22C-8157-7D40-D25E-7DCE7CD3A69E}" dt="2026-04-03T18:47:24.458" v="13" actId="20577"/>
          <ac:spMkLst>
            <pc:docMk/>
            <pc:sldMk cId="0" sldId="268"/>
            <ac:spMk id="4" creationId="{00000000-0000-0000-0000-000000000000}"/>
          </ac:spMkLst>
        </pc:spChg>
      </pc:sldChg>
      <pc:sldChg chg="modSp">
        <pc:chgData name="Guest User" userId="" providerId="Windows Live" clId="Web-{B328D22C-8157-7D40-D25E-7DCE7CD3A69E}" dt="2026-04-03T19:07:02.483" v="44" actId="20577"/>
        <pc:sldMkLst>
          <pc:docMk/>
          <pc:sldMk cId="0" sldId="269"/>
        </pc:sldMkLst>
        <pc:spChg chg="mod">
          <ac:chgData name="Guest User" userId="" providerId="Windows Live" clId="Web-{B328D22C-8157-7D40-D25E-7DCE7CD3A69E}" dt="2026-04-03T19:07:02.483" v="44" actId="20577"/>
          <ac:spMkLst>
            <pc:docMk/>
            <pc:sldMk cId="0" sldId="269"/>
            <ac:spMk id="29" creationId="{00000000-0000-0000-0000-000000000000}"/>
          </ac:spMkLst>
        </pc:spChg>
      </pc:sldChg>
    </pc:docChg>
  </pc:docChgLst>
  <pc:docChgLst>
    <pc:chgData name="Satvik Shrivastava" userId="20b30ab9c7501e4a" providerId="LiveId" clId="{ACE84A37-D795-4AAA-ADE5-B1B5FA5320B6}"/>
    <pc:docChg chg="undo custSel modSld">
      <pc:chgData name="Satvik Shrivastava" userId="20b30ab9c7501e4a" providerId="LiveId" clId="{ACE84A37-D795-4AAA-ADE5-B1B5FA5320B6}" dt="2026-04-05T10:58:24.530" v="86" actId="20577"/>
      <pc:docMkLst>
        <pc:docMk/>
      </pc:docMkLst>
      <pc:sldChg chg="modSp mod">
        <pc:chgData name="Satvik Shrivastava" userId="20b30ab9c7501e4a" providerId="LiveId" clId="{ACE84A37-D795-4AAA-ADE5-B1B5FA5320B6}" dt="2026-04-05T10:58:24.530" v="86" actId="20577"/>
        <pc:sldMkLst>
          <pc:docMk/>
          <pc:sldMk cId="0" sldId="261"/>
        </pc:sldMkLst>
        <pc:spChg chg="mod">
          <ac:chgData name="Satvik Shrivastava" userId="20b30ab9c7501e4a" providerId="LiveId" clId="{ACE84A37-D795-4AAA-ADE5-B1B5FA5320B6}" dt="2026-04-05T10:58:24.530" v="86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Satvik Shrivastava" userId="20b30ab9c7501e4a" providerId="LiveId" clId="{ACE84A37-D795-4AAA-ADE5-B1B5FA5320B6}" dt="2026-04-03T16:13:15.863" v="38" actId="20577"/>
        <pc:sldMkLst>
          <pc:docMk/>
          <pc:sldMk cId="0" sldId="267"/>
        </pc:sldMkLst>
        <pc:spChg chg="mod">
          <ac:chgData name="Satvik Shrivastava" userId="20b30ab9c7501e4a" providerId="LiveId" clId="{ACE84A37-D795-4AAA-ADE5-B1B5FA5320B6}" dt="2026-04-03T16:13:15.863" v="38" actId="20577"/>
          <ac:spMkLst>
            <pc:docMk/>
            <pc:sldMk cId="0" sldId="267"/>
            <ac:spMk id="4" creationId="{00000000-0000-0000-0000-000000000000}"/>
          </ac:spMkLst>
        </pc:spChg>
      </pc:sldChg>
      <pc:sldChg chg="delSp modSp mod">
        <pc:chgData name="Satvik Shrivastava" userId="20b30ab9c7501e4a" providerId="LiveId" clId="{ACE84A37-D795-4AAA-ADE5-B1B5FA5320B6}" dt="2026-04-03T16:14:46.917" v="70" actId="20577"/>
        <pc:sldMkLst>
          <pc:docMk/>
          <pc:sldMk cId="0" sldId="268"/>
        </pc:sldMkLst>
        <pc:spChg chg="mod">
          <ac:chgData name="Satvik Shrivastava" userId="20b30ab9c7501e4a" providerId="LiveId" clId="{ACE84A37-D795-4AAA-ADE5-B1B5FA5320B6}" dt="2026-04-03T16:14:01.625" v="48" actId="107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Satvik Shrivastava" userId="20b30ab9c7501e4a" providerId="LiveId" clId="{ACE84A37-D795-4AAA-ADE5-B1B5FA5320B6}" dt="2026-04-03T16:14:46.917" v="70" actId="20577"/>
          <ac:spMkLst>
            <pc:docMk/>
            <pc:sldMk cId="0" sldId="268"/>
            <ac:spMk id="35" creationId="{00000000-0000-0000-0000-000000000000}"/>
          </ac:spMkLst>
        </pc:spChg>
      </pc:sldChg>
      <pc:sldChg chg="modSp mod">
        <pc:chgData name="Satvik Shrivastava" userId="20b30ab9c7501e4a" providerId="LiveId" clId="{ACE84A37-D795-4AAA-ADE5-B1B5FA5320B6}" dt="2026-04-03T18:39:24.633" v="84" actId="20577"/>
        <pc:sldMkLst>
          <pc:docMk/>
          <pc:sldMk cId="0" sldId="269"/>
        </pc:sldMkLst>
        <pc:spChg chg="mod">
          <ac:chgData name="Satvik Shrivastava" userId="20b30ab9c7501e4a" providerId="LiveId" clId="{ACE84A37-D795-4AAA-ADE5-B1B5FA5320B6}" dt="2026-04-03T18:39:24.633" v="84" actId="20577"/>
          <ac:spMkLst>
            <pc:docMk/>
            <pc:sldMk cId="0" sldId="269"/>
            <ac:spMk id="2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9E8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0B-48F8-8CAA-E7858796C40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00B-48F8-8CAA-E7858796C403}"/>
              </c:ext>
            </c:extLst>
          </c:dPt>
          <c:dPt>
            <c:idx val="2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0B-48F8-8CAA-E7858796C40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00B-48F8-8CAA-E7858796C40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00B-48F8-8CAA-E7858796C40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00B-48F8-8CAA-E7858796C40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C00B-48F8-8CAA-E7858796C403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C00B-48F8-8CAA-E7858796C403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NR-AhR</c:v>
                </c:pt>
                <c:pt idx="1">
                  <c:v>NR-AR-LBD</c:v>
                </c:pt>
                <c:pt idx="2">
                  <c:v>SR-MMP</c:v>
                </c:pt>
                <c:pt idx="3">
                  <c:v>SR-ATAD5</c:v>
                </c:pt>
                <c:pt idx="4">
                  <c:v>SR-ARE</c:v>
                </c:pt>
                <c:pt idx="5">
                  <c:v>NR-Aromatase</c:v>
                </c:pt>
                <c:pt idx="6">
                  <c:v>SR-HSE</c:v>
                </c:pt>
                <c:pt idx="7">
                  <c:v>NR-ER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0.88400000000000001</c:v>
                </c:pt>
                <c:pt idx="1">
                  <c:v>0.875</c:v>
                </c:pt>
                <c:pt idx="2">
                  <c:v>0.89200000000000002</c:v>
                </c:pt>
                <c:pt idx="3">
                  <c:v>0.86499999999999999</c:v>
                </c:pt>
                <c:pt idx="4">
                  <c:v>0.85099999999999998</c:v>
                </c:pt>
                <c:pt idx="5">
                  <c:v>0.84299999999999997</c:v>
                </c:pt>
                <c:pt idx="6">
                  <c:v>0.83799999999999997</c:v>
                </c:pt>
                <c:pt idx="7">
                  <c:v>0.82199999999999995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00B-48F8-8CAA-E7858796C4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2"/>
          <c:min val="0.75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1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99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06824" y="-202575"/>
            <a:ext cx="5029200" cy="502920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21224" y="754380"/>
            <a:ext cx="3200400" cy="32004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743200" cy="347472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00C9A7"/>
                </a:solidFill>
              </a:rPr>
              <a:t>CODECURE AI HACKATHON  ·  IIT BHU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ToxScout AI</a:t>
            </a:r>
            <a:endParaRPr lang="en-US" sz="640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Drug Toxicity Prediction &amp; Molecular Intelligence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molecular toxicity in 0.4 seconds — saving $2.6B per drug candidate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4114800" cy="22860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29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C9A7"/>
                </a:solidFill>
              </a:rPr>
              <a:t>Team ToxScouts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6576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</a:rPr>
              <a:t>Srijan Keshri  ·  Satvik Shrivastava  ·  Naman Namdev  ·  Shivam Rajoriya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675120" y="1562217"/>
            <a:ext cx="822960" cy="731520"/>
          </a:xfrm>
          <a:prstGeom prst="line">
            <a:avLst/>
          </a:prstGeom>
          <a:noFill/>
          <a:ln w="1905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43216" y="2238873"/>
            <a:ext cx="0" cy="914400"/>
          </a:xfrm>
          <a:prstGeom prst="line">
            <a:avLst/>
          </a:prstGeom>
          <a:noFill/>
          <a:ln w="1905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77456" y="3244713"/>
            <a:ext cx="822960" cy="91440"/>
          </a:xfrm>
          <a:prstGeom prst="line">
            <a:avLst/>
          </a:prstGeom>
          <a:noFill/>
          <a:ln w="1905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562217"/>
            <a:ext cx="0" cy="1005840"/>
          </a:xfrm>
          <a:prstGeom prst="line">
            <a:avLst/>
          </a:prstGeom>
          <a:noFill/>
          <a:ln w="1905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43216" y="2238873"/>
            <a:ext cx="0" cy="274320"/>
          </a:xfrm>
          <a:prstGeom prst="line">
            <a:avLst/>
          </a:prstGeom>
          <a:noFill/>
          <a:ln w="1905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1306185"/>
            <a:ext cx="512064" cy="512064"/>
          </a:xfrm>
          <a:prstGeom prst="ellipse">
            <a:avLst/>
          </a:prstGeom>
          <a:solidFill>
            <a:srgbClr val="00C9A7">
              <a:alpha val="70000"/>
            </a:srgbClr>
          </a:solidFill>
          <a:ln w="19050">
            <a:solidFill>
              <a:srgbClr val="00C9A7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2048" y="2037705"/>
            <a:ext cx="402336" cy="402336"/>
          </a:xfrm>
          <a:prstGeom prst="ellipse">
            <a:avLst/>
          </a:prstGeom>
          <a:solidFill>
            <a:srgbClr val="009E85">
              <a:alpha val="70000"/>
            </a:srgbClr>
          </a:solidFill>
          <a:ln w="19050">
            <a:solidFill>
              <a:srgbClr val="009E85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4848" y="2952105"/>
            <a:ext cx="585216" cy="585216"/>
          </a:xfrm>
          <a:prstGeom prst="ellipse">
            <a:avLst/>
          </a:prstGeom>
          <a:solidFill>
            <a:srgbClr val="00C9A7">
              <a:alpha val="70000"/>
            </a:srgbClr>
          </a:solidFill>
          <a:ln w="19050">
            <a:solidFill>
              <a:srgbClr val="00C9A7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7808" y="3043545"/>
            <a:ext cx="329184" cy="329184"/>
          </a:xfrm>
          <a:prstGeom prst="ellipse">
            <a:avLst/>
          </a:prstGeom>
          <a:solidFill>
            <a:srgbClr val="F59E0B">
              <a:alpha val="70000"/>
            </a:srgbClr>
          </a:solidFill>
          <a:ln w="1905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1123305"/>
            <a:ext cx="274320" cy="274320"/>
          </a:xfrm>
          <a:prstGeom prst="ellipse">
            <a:avLst/>
          </a:prstGeom>
          <a:solidFill>
            <a:srgbClr val="94A3B8">
              <a:alpha val="70000"/>
            </a:srgbClr>
          </a:solidFill>
          <a:ln w="1905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53328" y="2312025"/>
            <a:ext cx="365760" cy="365760"/>
          </a:xfrm>
          <a:prstGeom prst="ellipse">
            <a:avLst/>
          </a:prstGeom>
          <a:solidFill>
            <a:srgbClr val="009E85">
              <a:alpha val="70000"/>
            </a:srgbClr>
          </a:solidFill>
          <a:ln w="19050">
            <a:solidFill>
              <a:srgbClr val="009E85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EF4444"/>
                </a:solidFill>
              </a:rPr>
              <a:t>THE REAL-WORLD PROBLEM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development is failing — and toxicity is the reason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828800"/>
          </a:xfrm>
          <a:prstGeom prst="rect">
            <a:avLst/>
          </a:prstGeom>
          <a:solidFill>
            <a:srgbClr val="132138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EF4444"/>
                </a:solidFill>
              </a:rPr>
              <a:t>$2.6B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E8F4F2"/>
                </a:solidFill>
              </a:rPr>
              <a:t>Average cost to bring one drug to market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743200" cy="1828800"/>
          </a:xfrm>
          <a:prstGeom prst="rect">
            <a:avLst/>
          </a:prstGeom>
          <a:solidFill>
            <a:srgbClr val="132138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630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600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59E0B"/>
                </a:solidFill>
              </a:rPr>
              <a:t>90%</a:t>
            </a:r>
            <a:endParaRPr lang="en-US" sz="4400"/>
          </a:p>
        </p:txBody>
      </p:sp>
      <p:sp>
        <p:nvSpPr>
          <p:cNvPr id="12" name="Text 10"/>
          <p:cNvSpPr/>
          <p:nvPr/>
        </p:nvSpPr>
        <p:spPr>
          <a:xfrm>
            <a:off x="3383280" y="2468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E8F4F2"/>
                </a:solidFill>
              </a:rPr>
              <a:t>Drug candidates fail — majority due to toxicity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743200" cy="1828800"/>
          </a:xfrm>
          <a:prstGeom prst="rect">
            <a:avLst/>
          </a:prstGeom>
          <a:solidFill>
            <a:srgbClr val="132138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6304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00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00C9A7"/>
                </a:solidFill>
              </a:rPr>
              <a:t>18+</a:t>
            </a:r>
            <a:endParaRPr lang="en-US" sz="4400"/>
          </a:p>
        </p:txBody>
      </p:sp>
      <p:sp>
        <p:nvSpPr>
          <p:cNvPr id="16" name="Text 14"/>
          <p:cNvSpPr/>
          <p:nvPr/>
        </p:nvSpPr>
        <p:spPr>
          <a:xfrm>
            <a:off x="6355080" y="2468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E8F4F2"/>
                </a:solidFill>
              </a:rPr>
              <a:t>Months of pre-clinical testing before human trials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8595360" cy="658368"/>
          </a:xfrm>
          <a:prstGeom prst="rect">
            <a:avLst/>
          </a:prstGeom>
          <a:solidFill>
            <a:srgbClr val="1B4D45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4787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F4F2"/>
                </a:solidFill>
              </a:rPr>
              <a:t>Traditional animal testing is slow, expensive, and still fails late in clinical trials. The industry desperately needs early-stage in-silico toxicity screening — before a single animal is tested.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274320" y="4315968"/>
            <a:ext cx="8595360" cy="594360"/>
          </a:xfrm>
          <a:prstGeom prst="rect">
            <a:avLst/>
          </a:prstGeom>
          <a:solidFill>
            <a:srgbClr val="122545"/>
          </a:solidFill>
          <a:ln w="12700">
            <a:solidFill>
              <a:srgbClr val="12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3159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94A3B8"/>
                </a:solidFill>
              </a:rPr>
              <a:t>Source: DiMasi et al., Journal of Health Economics (2016) — Tufts Center for the Study of Drug Development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C9A7"/>
                </a:solidFill>
              </a:rPr>
              <a:t>OUR SOLUTION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ToxScout AI — In-Silico Toxicity Intelligence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5087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C9A7"/>
                </a:solidFill>
              </a:rPr>
              <a:t>Multi-Target Prediction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393192" y="18013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F4F2"/>
                </a:solidFill>
              </a:rPr>
              <a:t>12 Tox21 nuclear receptor &amp; stress response pathways predicted simultaneously in one pass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5087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C9A7"/>
                </a:solidFill>
              </a:rPr>
              <a:t>Ensemble ML Engine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828032" y="18013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F4F2"/>
                </a:solidFill>
              </a:rPr>
              <a:t>RF + ET + XGB + LightGBM + MLP + Stacking — 8 models voting together for maximum accuracy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28600" y="2587752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587752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679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C9A7"/>
                </a:solidFill>
              </a:rPr>
              <a:t>1777-Dimension Features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393192" y="29718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F4F2"/>
                </a:solidFill>
              </a:rPr>
              <a:t>74 physicochemical + MACCS keys + Morgan ECFP4 + RDKit fingerprints — richest feature set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663440" y="2587752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587752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679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</a:rPr>
              <a:t>Atom-Level XAI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828032" y="29718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F4F2"/>
                </a:solidFill>
              </a:rPr>
              <a:t>SHAP values mapped to specific atoms on 2D molecule — highlights which bonds drive toxicity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228600" y="3758184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758184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8496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</a:rPr>
              <a:t>Counterfactual Engine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393192" y="414223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F4F2"/>
                </a:solidFill>
              </a:rPr>
              <a:t>Suggests molecular modifications to reduce toxicity — 'what change makes this compound safer?'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663440" y="3758184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758184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8496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</a:rPr>
              <a:t>Real-Time API + UI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4828032" y="414223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E8F4F2"/>
                </a:solidFill>
              </a:rPr>
              <a:t>FastAPI backend + React frontend with 3D viewer, batch CSV, voice input, PDF report export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3291840" y="4681728"/>
            <a:ext cx="25603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91840" y="4681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A1628"/>
                </a:solidFill>
              </a:rPr>
              <a:t>0.4 seconds per compound prediction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C9A7"/>
                </a:solidFill>
              </a:rPr>
              <a:t>DATA FOUNDATION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Dataset Architecture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2743200" cy="192024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2743200" cy="347472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00C9A7"/>
                </a:solidFill>
              </a:rPr>
              <a:t>PRIMARY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228600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C9A7"/>
                </a:solidFill>
              </a:rPr>
              <a:t>12K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</a:rPr>
              <a:t>Tox21 (Primary)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~12,000 chemical compounds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12 nuclear receptor / stress pathway assays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Industry benchmark dataset for AI toxicity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743200" cy="1920240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71600"/>
            <a:ext cx="2743200" cy="34747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59E0B"/>
                </a:solidFill>
              </a:rPr>
              <a:t>SECONDARY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200400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59E0B"/>
                </a:solidFill>
              </a:rPr>
              <a:t>250K</a:t>
            </a:r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3291840" y="2194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</a:rPr>
              <a:t>ZINC250k (Secondary)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3291840" y="24871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~250,000 drug-like molecules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logP, QED, SAS molecular properties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Used for feature distribution normalisation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172200" y="1371600"/>
            <a:ext cx="2743200" cy="1920240"/>
          </a:xfrm>
          <a:prstGeom prst="rect">
            <a:avLst/>
          </a:prstGeom>
          <a:solidFill>
            <a:srgbClr val="132138"/>
          </a:solidFill>
          <a:ln w="12700">
            <a:solidFill>
              <a:srgbClr val="94A3B8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371600"/>
            <a:ext cx="2743200" cy="347472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94A3B8"/>
                </a:solidFill>
              </a:rPr>
              <a:t>OPTIONAL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172200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94A3B8"/>
                </a:solidFill>
              </a:rPr>
              <a:t>35K+</a:t>
            </a:r>
            <a:endParaRPr lang="en-US" sz="3200"/>
          </a:p>
        </p:txBody>
      </p:sp>
      <p:sp>
        <p:nvSpPr>
          <p:cNvPr id="21" name="Text 19"/>
          <p:cNvSpPr/>
          <p:nvPr/>
        </p:nvSpPr>
        <p:spPr>
          <a:xfrm>
            <a:off x="6263640" y="2194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</a:rPr>
              <a:t>ChEMBL + TOXRIC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6263640" y="24871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Bioactivity + drug-target data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Acute LD50 oral toxicity endpoints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ClinTox, AMES, hERG augmentation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27432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C9A7"/>
                </a:solidFill>
              </a:rPr>
              <a:t>Preprocessing Pipeline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228600" y="3840480"/>
            <a:ext cx="1118181" cy="685800"/>
          </a:xfrm>
          <a:prstGeom prst="rect">
            <a:avLst/>
          </a:prstGeom>
          <a:solidFill>
            <a:srgbClr val="122545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" y="3840480"/>
            <a:ext cx="10633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1. SMILES Validation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1346781" y="4183380"/>
            <a:ext cx="109728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56509" y="3840480"/>
            <a:ext cx="1118181" cy="68580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93085" y="3840480"/>
            <a:ext cx="10633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2. 1777 Feature Extraction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2574689" y="4183380"/>
            <a:ext cx="109728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84417" y="3840480"/>
            <a:ext cx="1118181" cy="685800"/>
          </a:xfrm>
          <a:prstGeom prst="rect">
            <a:avLst/>
          </a:prstGeom>
          <a:solidFill>
            <a:srgbClr val="122545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0993" y="3840480"/>
            <a:ext cx="10633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3. Outlier Removal (IQR)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3802598" y="4183380"/>
            <a:ext cx="109728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12326" y="3840480"/>
            <a:ext cx="1118181" cy="68580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48902" y="3840480"/>
            <a:ext cx="10633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4. Scaffold Split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5030506" y="4183380"/>
            <a:ext cx="109728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40234" y="3840480"/>
            <a:ext cx="1118181" cy="685800"/>
          </a:xfrm>
          <a:prstGeom prst="rect">
            <a:avLst/>
          </a:prstGeom>
          <a:solidFill>
            <a:srgbClr val="122545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6810" y="3840480"/>
            <a:ext cx="10633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5. SMOTE Balancing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6258415" y="4183380"/>
            <a:ext cx="109728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68143" y="3840480"/>
            <a:ext cx="1118181" cy="68580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4719" y="3840480"/>
            <a:ext cx="10633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6. StandardScaler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7486323" y="4183380"/>
            <a:ext cx="109728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96051" y="3840480"/>
            <a:ext cx="1118181" cy="685800"/>
          </a:xfrm>
          <a:prstGeom prst="rect">
            <a:avLst/>
          </a:prstGeom>
          <a:solidFill>
            <a:srgbClr val="122545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32627" y="3840480"/>
            <a:ext cx="10633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7. Variance + Corr Filter</a:t>
            </a:r>
            <a:endParaRPr lang="en-US" sz="850"/>
          </a:p>
        </p:txBody>
      </p:sp>
      <p:sp>
        <p:nvSpPr>
          <p:cNvPr id="44" name="Text 4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USE_SCAFFOLD_SPLIT = True  |  USE_SMOTE = True  |  MORGAN_NBITS = 1024  |  RDKIT_FP_NBITS = 512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22C55E"/>
                </a:solidFill>
              </a:rPr>
              <a:t>REAL-WORLD IMPACT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ToxScout AI Saves the Industry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2743200" cy="1143000"/>
          </a:xfrm>
          <a:prstGeom prst="rect">
            <a:avLst/>
          </a:prstGeom>
          <a:solidFill>
            <a:srgbClr val="132138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22C55E"/>
                </a:solidFill>
              </a:rPr>
              <a:t>$780M+</a:t>
            </a:r>
            <a:endParaRPr lang="en-US" sz="360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8F4F2"/>
                </a:solidFill>
              </a:rPr>
              <a:t>Saved per 300 compounds screened early (assuming 1 late failure averted)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743200" cy="1143000"/>
          </a:xfrm>
          <a:prstGeom prst="rect">
            <a:avLst/>
          </a:prstGeom>
          <a:solidFill>
            <a:srgbClr val="132138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17320"/>
            <a:ext cx="27432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C9A7"/>
                </a:solidFill>
              </a:rPr>
              <a:t>18 mo.</a:t>
            </a:r>
            <a:endParaRPr lang="en-US" sz="3600"/>
          </a:p>
        </p:txBody>
      </p:sp>
      <p:sp>
        <p:nvSpPr>
          <p:cNvPr id="12" name="Text 10"/>
          <p:cNvSpPr/>
          <p:nvPr/>
        </p:nvSpPr>
        <p:spPr>
          <a:xfrm>
            <a:off x="3291840" y="20848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8F4F2"/>
                </a:solidFill>
              </a:rPr>
              <a:t>Reduction in pre-clinical timeline per drug program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2743200" cy="1143000"/>
          </a:xfrm>
          <a:prstGeom prst="rect">
            <a:avLst/>
          </a:prstGeom>
          <a:solidFill>
            <a:srgbClr val="132138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41732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59E0B"/>
                </a:solidFill>
              </a:rPr>
              <a:t>0</a:t>
            </a:r>
            <a:endParaRPr lang="en-US" sz="3600"/>
          </a:p>
        </p:txBody>
      </p:sp>
      <p:sp>
        <p:nvSpPr>
          <p:cNvPr id="16" name="Text 14"/>
          <p:cNvSpPr/>
          <p:nvPr/>
        </p:nvSpPr>
        <p:spPr>
          <a:xfrm>
            <a:off x="6263640" y="20848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8F4F2"/>
                </a:solidFill>
              </a:rPr>
              <a:t>Animals needed for initial toxicity triage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27432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C9A7"/>
                </a:solidFill>
              </a:rPr>
              <a:t>Who benefits from ToxScout AI?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228600" y="3127248"/>
            <a:ext cx="4206240" cy="5943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27248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729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C9A7"/>
                </a:solidFill>
              </a:rPr>
              <a:t>Pharmaceutical Companies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365760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Eliminate toxic candidates before Phase I — reduce $2.6B spend per drug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663440" y="3127248"/>
            <a:ext cx="4206240" cy="5943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127248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1729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C9A7"/>
                </a:solidFill>
              </a:rPr>
              <a:t>Academic Drug Labs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4800600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Free, fast in-silico screening before wet-lab synthesis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228600" y="3858768"/>
            <a:ext cx="4206240" cy="5943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858768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904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C9A7"/>
                </a:solidFill>
              </a:rPr>
              <a:t>Regulatory Bodies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365760" y="4151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Machine-verified toxicity profiles alongside traditional dossiers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663440" y="3858768"/>
            <a:ext cx="4206240" cy="5943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858768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904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C9A7"/>
                </a:solidFill>
              </a:rPr>
              <a:t>Medicinal Chemists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4800600" y="4151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Counterfactual engine: 'modify this group to lower toxicity'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C9A7"/>
                </a:solidFill>
              </a:rPr>
              <a:t>LIVE DEMO FLOW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working: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27632"/>
            <a:ext cx="457200" cy="45720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C9A7"/>
                </a:solidFill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86968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C9A7"/>
                </a:solidFill>
              </a:rPr>
              <a:t>Enter SMILES or drug name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886968" y="177393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Type 'thalidomide' or paste SMILES CC1=CC=C(C=C1)C(=O)NN. SmartInput resolves name to SMILES via PubChem API.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27632"/>
            <a:ext cx="457200" cy="457200"/>
          </a:xfrm>
          <a:prstGeom prst="ellipse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F4444"/>
                </a:solidFill>
              </a:rPr>
              <a:t>2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321808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EF4444"/>
                </a:solidFill>
              </a:rPr>
              <a:t>Toxicity verdict + gauge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5321808" y="177393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Animated toxicity meter shows 74% probability HIGH RISK. 12 endpoint panel lights up SR-ARE, NR-AhR, NR-ER. Confidence: 88%.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228600" y="2560320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16352"/>
            <a:ext cx="457200" cy="457200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59E0B"/>
                </a:solidFill>
              </a:rPr>
              <a:t>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886968" y="2651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59E0B"/>
                </a:solidFill>
              </a:rPr>
              <a:t>Atom saliency heatmap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886968" y="296265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2D structure renders with atoms coloured by toxicity contribution. Nitro/amine groups highlighted RED. Click atom to see mechanism text.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16352"/>
            <a:ext cx="457200" cy="457200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59E0B"/>
                </a:solidFill>
              </a:rPr>
              <a:t>4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5321808" y="2651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59E0B"/>
                </a:solidFill>
              </a:rPr>
              <a:t>SHAP waterfall chart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5321808" y="296265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Top 10 features ranked by SHAP. Aromatic amine (+0.31), LogP (+0.18), MACCS_160 (+0.14)... with mechanistic explanation per feature.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228600" y="3749040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05072"/>
            <a:ext cx="457200" cy="457200"/>
          </a:xfrm>
          <a:prstGeom prst="ellipse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2C55E"/>
                </a:solidFill>
              </a:rPr>
              <a:t>5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886968" y="3840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2C55E"/>
                </a:solidFill>
              </a:rPr>
              <a:t>Counterfactual suggestion</a:t>
            </a:r>
            <a:endParaRPr lang="en-US" sz="1250"/>
          </a:p>
        </p:txBody>
      </p:sp>
      <p:sp>
        <p:nvSpPr>
          <p:cNvPr id="29" name="Text 27"/>
          <p:cNvSpPr/>
          <p:nvPr/>
        </p:nvSpPr>
        <p:spPr>
          <a:xfrm>
            <a:off x="886968" y="415137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Engine removes highest-risk substructure → new SMILES → prediction drops from 74% to 41%. Bioisostere panel shows 3 safer analogues.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663440" y="3749040"/>
            <a:ext cx="4206240" cy="10515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4005072"/>
            <a:ext cx="457200" cy="45720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C9A7"/>
                </a:solidFill>
              </a:rPr>
              <a:t>6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5321808" y="3840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C9A7"/>
                </a:solidFill>
              </a:rPr>
              <a:t>Batch CSV + PDF report</a:t>
            </a:r>
            <a:endParaRPr lang="en-US" sz="1250"/>
          </a:p>
        </p:txBody>
      </p:sp>
      <p:sp>
        <p:nvSpPr>
          <p:cNvPr id="34" name="Text 32"/>
          <p:cNvSpPr/>
          <p:nvPr/>
        </p:nvSpPr>
        <p:spPr>
          <a:xfrm>
            <a:off x="5321808" y="415137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Upload 100 SMILES → download ranked toxicity table + per-compound reports. MW vs LogP chemical space scatter plot included.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C9A7"/>
                </a:solidFill>
              </a:rPr>
              <a:t>IMPLEMENTATION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 &amp; Code Highlights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28600" y="1353312"/>
            <a:ext cx="4206240" cy="1572768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5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53312"/>
            <a:ext cx="4206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444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C9A7"/>
                </a:solidFill>
              </a:rPr>
              <a:t>Scaffold split prevents data leakage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4023360" cy="530352"/>
          </a:xfrm>
          <a:prstGeom prst="rect">
            <a:avLst/>
          </a:prstGeom>
          <a:solidFill>
            <a:srgbClr val="060D18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73736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USE_SCAFFOLD_SPLIT = True  # Bemis-Murcko scaffold grouping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Similar structures never split across train/test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338328" y="234086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Random split inflates AUC by ~0.04–0.08. Scaffold split ensures model generalises to novel scaffolds — the real deployment scenario.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663440" y="1353312"/>
            <a:ext cx="4206240" cy="1572768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53312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444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</a:rPr>
              <a:t>ZINC250k feature normalisation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754880" y="1737360"/>
            <a:ext cx="4023360" cy="530352"/>
          </a:xfrm>
          <a:prstGeom prst="rect">
            <a:avLst/>
          </a:prstGeom>
          <a:solidFill>
            <a:srgbClr val="060D18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73736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zinc_mean, zinc_std = augment_with_zinc_statistics(zinc_path)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Normalises Tox21 descriptors against drug-like space</a:t>
            </a:r>
            <a:endParaRPr lang="en-US" sz="850"/>
          </a:p>
        </p:txBody>
      </p:sp>
      <p:sp>
        <p:nvSpPr>
          <p:cNvPr id="16" name="Text 14"/>
          <p:cNvSpPr/>
          <p:nvPr/>
        </p:nvSpPr>
        <p:spPr>
          <a:xfrm>
            <a:off x="4773168" y="234086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ZINC250k provides population-level reference for logP, QED, SAS — putting Tox21 compound descriptors in context of 250K drug-like molecules.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228600" y="3072384"/>
            <a:ext cx="4206240" cy="1572768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5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72384"/>
            <a:ext cx="4206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1638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C9A7"/>
                </a:solidFill>
              </a:rPr>
              <a:t>Calibrated probability output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320040" y="3456432"/>
            <a:ext cx="4023360" cy="530352"/>
          </a:xfrm>
          <a:prstGeom prst="rect">
            <a:avLst/>
          </a:prstGeom>
          <a:solidFill>
            <a:srgbClr val="060D18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4564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CalibratedClassifierCV(method='isotonic', cv=3)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Reliable probabilities (not just scores)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338328" y="405993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Uncalibrated tree models output poorly calibrated probabilities. Isotonic calibration ensures p=0.7 actually means 70% toxic — critical for clinical use.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663440" y="3072384"/>
            <a:ext cx="4206240" cy="1572768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5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72384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1638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C55E"/>
                </a:solidFill>
              </a:rPr>
              <a:t>Threshold tuning for imbalanced data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4754880" y="3456432"/>
            <a:ext cx="4023360" cy="530352"/>
          </a:xfrm>
          <a:prstGeom prst="rect">
            <a:avLst/>
          </a:prstGeom>
          <a:solidFill>
            <a:srgbClr val="060D18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4564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find_best_threshold(model, X_test, y_test)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DECISION_THRESHOLD = 0.35 (not default 0.5)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4773168" y="405993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At 50% threshold, high recall is sacrificed. Tuning to 0.35 maximises F1 on the imbalanced Tox21 dataset — catching more true toxic compounds.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F59E0B"/>
                </a:solidFill>
              </a:rPr>
              <a:t>EXPLAINABILITY (XAI)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Explainability — From Feature to Atom to Molecule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8595360" cy="1078992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25880"/>
            <a:ext cx="594360" cy="107899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25880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59E0B"/>
                </a:solidFill>
              </a:rPr>
              <a:t>01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</a:rPr>
              <a:t>Global SHAP Analysis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960120" y="17282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SHAP TreeExplainer across all 1777 features. Identifies which molecular properties drive toxicity globally across the entire dataset. Beeswarm, bar, waterfall, and dependence plots included.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4480560" y="1490472"/>
            <a:ext cx="1353312" cy="713232"/>
          </a:xfrm>
          <a:prstGeom prst="rect">
            <a:avLst/>
          </a:prstGeom>
          <a:solidFill>
            <a:srgbClr val="12254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49047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8F4F2"/>
                </a:solidFill>
              </a:rPr>
              <a:t>LogP &gt; 5 → high toxicity contribution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5943600" y="1490472"/>
            <a:ext cx="1353312" cy="713232"/>
          </a:xfrm>
          <a:prstGeom prst="rect">
            <a:avLst/>
          </a:prstGeom>
          <a:solidFill>
            <a:srgbClr val="12254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149047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8F4F2"/>
                </a:solidFill>
              </a:rPr>
              <a:t>QED &lt; 0.3 → poor drug-likeness flag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7406640" y="1490472"/>
            <a:ext cx="1353312" cy="713232"/>
          </a:xfrm>
          <a:prstGeom prst="rect">
            <a:avLst/>
          </a:prstGeom>
          <a:solidFill>
            <a:srgbClr val="12254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0648" y="149047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8F4F2"/>
                </a:solidFill>
              </a:rPr>
              <a:t>Alert_nitro → reactive metabolite risk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28600" y="2514600"/>
            <a:ext cx="8595360" cy="1078992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514600"/>
            <a:ext cx="594360" cy="107899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514600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59E0B"/>
                </a:solidFill>
              </a:rPr>
              <a:t>02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960120" y="2606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</a:rPr>
              <a:t>Atom-Level Toxicophore Map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960120" y="291693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16 SMARTS toxicophore patterns (nitro, epoxide, aromatic amine, Michael acceptor…) matched to atoms. Each atom coloured by risk level on the 2D structure. SHAP attribution mapped per-atom.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480560" y="2679192"/>
            <a:ext cx="1353312" cy="713232"/>
          </a:xfrm>
          <a:prstGeom prst="rect">
            <a:avLst/>
          </a:prstGeom>
          <a:solidFill>
            <a:srgbClr val="12254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267919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8F4F2"/>
                </a:solidFill>
              </a:rPr>
              <a:t>Nitro group → red HIGH risk atom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5943600" y="2679192"/>
            <a:ext cx="1353312" cy="713232"/>
          </a:xfrm>
          <a:prstGeom prst="rect">
            <a:avLst/>
          </a:prstGeom>
          <a:solidFill>
            <a:srgbClr val="12254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67919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8F4F2"/>
                </a:solidFill>
              </a:rPr>
              <a:t>Aromatic halide → amber MODERATE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7406640" y="2679192"/>
            <a:ext cx="1353312" cy="713232"/>
          </a:xfrm>
          <a:prstGeom prst="rect">
            <a:avLst/>
          </a:prstGeom>
          <a:solidFill>
            <a:srgbClr val="12254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267919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8F4F2"/>
                </a:solidFill>
              </a:rPr>
              <a:t>Epoxide → direct DNA alkylation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228600" y="3703320"/>
            <a:ext cx="8595360" cy="1078992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703320"/>
            <a:ext cx="594360" cy="1078992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703320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2C55E"/>
                </a:solidFill>
              </a:rPr>
              <a:t>03</a:t>
            </a:r>
            <a:endParaRPr lang="en-US" sz="2200"/>
          </a:p>
        </p:txBody>
      </p:sp>
      <p:sp>
        <p:nvSpPr>
          <p:cNvPr id="30" name="Text 28"/>
          <p:cNvSpPr/>
          <p:nvPr/>
        </p:nvSpPr>
        <p:spPr>
          <a:xfrm>
            <a:off x="960120" y="3794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2C55E"/>
                </a:solidFill>
              </a:rPr>
              <a:t>Counterfactual Suggestions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960120" y="41056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Novel endpoint: removes highest-SHAP toxic substructure from SMILES, re-predicts, and shows before/after toxicity probability. Bioisostere panel shows safer structural replacements.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4480560" y="3867912"/>
            <a:ext cx="1353312" cy="713232"/>
          </a:xfrm>
          <a:prstGeom prst="rect">
            <a:avLst/>
          </a:prstGeom>
          <a:solidFill>
            <a:srgbClr val="122545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4568" y="386791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8F4F2"/>
                </a:solidFill>
              </a:rPr>
              <a:t>Remove nitro → -34% toxicity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5943600" y="3867912"/>
            <a:ext cx="1353312" cy="713232"/>
          </a:xfrm>
          <a:prstGeom prst="rect">
            <a:avLst/>
          </a:prstGeom>
          <a:solidFill>
            <a:srgbClr val="122545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07608" y="386791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8F4F2"/>
                </a:solidFill>
              </a:rPr>
              <a:t>Replace amine → reduce carcinogen risk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7406640" y="3867912"/>
            <a:ext cx="1353312" cy="713232"/>
          </a:xfrm>
          <a:prstGeom prst="rect">
            <a:avLst/>
          </a:prstGeom>
          <a:solidFill>
            <a:srgbClr val="122545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70648" y="386791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8F4F2"/>
                </a:solidFill>
              </a:rPr>
              <a:t>Swap halide → safer analogue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228600" y="4663440"/>
            <a:ext cx="8595360" cy="347472"/>
          </a:xfrm>
          <a:prstGeom prst="rect">
            <a:avLst/>
          </a:prstGeom>
          <a:solidFill>
            <a:srgbClr val="1A2E10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E8F4F2"/>
                </a:solidFill>
              </a:rPr>
              <a:t>shap_explainer.py contains 800+ lines of mechanistic pharmacology knowledge — every feature name maps to toxicology mechanism text used in generated reports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C9A7"/>
                </a:solidFill>
              </a:rPr>
              <a:t>MODEL ARCHITECTURE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8-Model Ensemble Stack with Stacking Meta-Learner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>
                <a:solidFill>
                  <a:srgbClr val="94A3B8"/>
                </a:solidFill>
              </a:rPr>
              <a:t>BASE MODELS (Layer 1)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132588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94A3B8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6642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4A3B8"/>
                </a:solidFill>
              </a:rPr>
              <a:t>Logistic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94A3B8"/>
                </a:solidFill>
              </a:rPr>
              <a:t>Regression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1691640" y="1664208"/>
            <a:ext cx="132588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16642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9A7"/>
                </a:solidFill>
              </a:rPr>
              <a:t>Random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0C9A7"/>
                </a:solidFill>
              </a:rPr>
              <a:t>Forest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154680" y="1664208"/>
            <a:ext cx="132588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6642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9A7"/>
                </a:solidFill>
              </a:rPr>
              <a:t>Extra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0C9A7"/>
                </a:solidFill>
              </a:rPr>
              <a:t>Trees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617720" y="1664208"/>
            <a:ext cx="132588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6642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9E0B"/>
                </a:solidFill>
              </a:rPr>
              <a:t>XGBoost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080760" y="1664208"/>
            <a:ext cx="132588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6642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9E0B"/>
                </a:solidFill>
              </a:rPr>
              <a:t>LightGBM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7543800" y="1664208"/>
            <a:ext cx="132588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16642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9A7"/>
                </a:solidFill>
              </a:rPr>
              <a:t>MLP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0C9A7"/>
                </a:solidFill>
              </a:rPr>
              <a:t>(Neural Net)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480560" y="2487168"/>
            <a:ext cx="0" cy="36576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514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00C9A7"/>
                </a:solidFill>
              </a:rPr>
              <a:t>▼ Soft voting + cross-validated stacking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274320" y="2852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>
                <a:solidFill>
                  <a:srgbClr val="94A3B8"/>
                </a:solidFill>
              </a:rPr>
              <a:t>ENSEMBLE LAYER (Layer 2)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1645920" y="3154680"/>
            <a:ext cx="2743200" cy="914400"/>
          </a:xfrm>
          <a:prstGeom prst="rect">
            <a:avLst/>
          </a:prstGeom>
          <a:solidFill>
            <a:srgbClr val="1B4D45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4592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C9A7"/>
                </a:solidFill>
              </a:rPr>
              <a:t>Voting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00C9A7"/>
                </a:solidFill>
              </a:rPr>
              <a:t>Ensemble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73736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E8F4F2"/>
                </a:solidFill>
              </a:rPr>
              <a:t>Soft vote: RF+ET+XGB+LGBM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846320" y="3154680"/>
            <a:ext cx="2743200" cy="914400"/>
          </a:xfrm>
          <a:prstGeom prst="rect">
            <a:avLst/>
          </a:prstGeom>
          <a:solidFill>
            <a:srgbClr val="1B4D45"/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2C55E"/>
                </a:solidFill>
              </a:rPr>
              <a:t>Stacking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22C55E"/>
                </a:solidFill>
              </a:rPr>
              <a:t>Ensemble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93776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E8F4F2"/>
                </a:solidFill>
              </a:rPr>
              <a:t>Calibrated LR meta-learner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228600" y="4224528"/>
            <a:ext cx="8595360" cy="64008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2245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9A7"/>
                </a:solidFill>
              </a:rPr>
              <a:t>Key techniques: </a:t>
            </a:r>
            <a:r>
              <a:rPr lang="en-US" sz="1100">
                <a:solidFill>
                  <a:srgbClr val="E8F4F2"/>
                </a:solidFill>
              </a:rPr>
              <a:t>Bemis-Murcko scaffold split  ·  SMOTE class balancing  ·  Isotonic calibration  ·  Stratified 5-fold CV  ·  Threshold tuning (F1 max)  ·  Train/test AUC gap monitoring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C9A7"/>
                </a:solidFill>
              </a:rPr>
              <a:t>SYSTEM ARCHITECTURE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System — React + FastAPI + ML Engine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182880" y="1325880"/>
            <a:ext cx="8778240" cy="868680"/>
          </a:xfrm>
          <a:prstGeom prst="rect">
            <a:avLst/>
          </a:prstGeom>
          <a:solidFill>
            <a:srgbClr val="0D1F38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00C9A7"/>
                </a:solidFill>
              </a:rPr>
              <a:t>FRONTEND (React + TailwindCSS + Framer Motion)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1143000" cy="438912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459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E8F4F2"/>
                </a:solidFill>
              </a:rPr>
              <a:t>SmartInput (SMILES/Name)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1517904" y="1645920"/>
            <a:ext cx="1143000" cy="438912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17904" y="16459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E8F4F2"/>
                </a:solidFill>
              </a:rPr>
              <a:t>3D Molecule Viewer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2761488" y="1645920"/>
            <a:ext cx="1143000" cy="438912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16459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E8F4F2"/>
                </a:solidFill>
              </a:rPr>
              <a:t>SHAP Panel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4005072" y="1645920"/>
            <a:ext cx="1143000" cy="438912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5072" y="16459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E8F4F2"/>
                </a:solidFill>
              </a:rPr>
              <a:t>Atom Saliency Map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5248656" y="1645920"/>
            <a:ext cx="1143000" cy="438912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8656" y="16459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E8F4F2"/>
                </a:solidFill>
              </a:rPr>
              <a:t>Batch CSV Engine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6492240" y="1645920"/>
            <a:ext cx="1143000" cy="438912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6459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E8F4F2"/>
                </a:solidFill>
              </a:rPr>
              <a:t>PDF Report Export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7735824" y="1645920"/>
            <a:ext cx="1143000" cy="438912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5824" y="16459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E8F4F2"/>
                </a:solidFill>
              </a:rPr>
              <a:t>Voice Assistant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4480560" y="2194560"/>
            <a:ext cx="0" cy="256032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450592"/>
            <a:ext cx="8778240" cy="713232"/>
          </a:xfrm>
          <a:prstGeom prst="rect">
            <a:avLst/>
          </a:prstGeom>
          <a:solidFill>
            <a:srgbClr val="071828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780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F59E0B"/>
                </a:solidFill>
              </a:rPr>
              <a:t>FASTAPI BACKEND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74320" y="2724912"/>
            <a:ext cx="114300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249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/api/predict</a:t>
            </a:r>
            <a:endParaRPr lang="en-US" sz="800"/>
          </a:p>
        </p:txBody>
      </p:sp>
      <p:sp>
        <p:nvSpPr>
          <p:cNvPr id="26" name="Shape 24"/>
          <p:cNvSpPr/>
          <p:nvPr/>
        </p:nvSpPr>
        <p:spPr>
          <a:xfrm>
            <a:off x="1517904" y="2724912"/>
            <a:ext cx="114300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17904" y="27249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/api/shap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2761488" y="2724912"/>
            <a:ext cx="114300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61488" y="27249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/api/atom-highlight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4005072" y="2724912"/>
            <a:ext cx="114300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27249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/api/counterfactual</a:t>
            </a:r>
            <a:endParaRPr lang="en-US" sz="800"/>
          </a:p>
        </p:txBody>
      </p:sp>
      <p:sp>
        <p:nvSpPr>
          <p:cNvPr id="32" name="Shape 30"/>
          <p:cNvSpPr/>
          <p:nvPr/>
        </p:nvSpPr>
        <p:spPr>
          <a:xfrm>
            <a:off x="5248656" y="2724912"/>
            <a:ext cx="114300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48656" y="27249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/api/batch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6492240" y="2724912"/>
            <a:ext cx="114300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7249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</a:t>
            </a:r>
            <a:endParaRPr lang="en-US" sz="800"/>
          </a:p>
        </p:txBody>
      </p:sp>
      <p:sp>
        <p:nvSpPr>
          <p:cNvPr id="36" name="Shape 34"/>
          <p:cNvSpPr/>
          <p:nvPr/>
        </p:nvSpPr>
        <p:spPr>
          <a:xfrm>
            <a:off x="7735824" y="2724912"/>
            <a:ext cx="1143000" cy="347472"/>
          </a:xfrm>
          <a:prstGeom prst="rect">
            <a:avLst/>
          </a:prstGeom>
          <a:solidFill>
            <a:srgbClr val="0F2030"/>
          </a:solidFill>
          <a:ln w="12700">
            <a:solidFill>
              <a:srgbClr val="F59E0B">
                <a:alpha val="3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35824" y="27249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/api/similar</a:t>
            </a:r>
            <a:endParaRPr lang="en-US" sz="800"/>
          </a:p>
        </p:txBody>
      </p:sp>
      <p:sp>
        <p:nvSpPr>
          <p:cNvPr id="38" name="Shape 36"/>
          <p:cNvSpPr/>
          <p:nvPr/>
        </p:nvSpPr>
        <p:spPr>
          <a:xfrm>
            <a:off x="4480560" y="3090672"/>
            <a:ext cx="0" cy="24688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" y="3337560"/>
            <a:ext cx="8778240" cy="960120"/>
          </a:xfrm>
          <a:prstGeom prst="rect">
            <a:avLst/>
          </a:prstGeom>
          <a:solidFill>
            <a:srgbClr val="122545"/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649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22C55E"/>
                </a:solidFill>
              </a:rPr>
              <a:t>ML ENGINE (Python + scikit-learn + XGBoost + LightGBM + SHAP + RDKit)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274320" y="3639312"/>
            <a:ext cx="1353312" cy="566928"/>
          </a:xfrm>
          <a:prstGeom prst="rect">
            <a:avLst/>
          </a:prstGeom>
          <a:solidFill>
            <a:srgbClr val="0A1E10"/>
          </a:solidFill>
          <a:ln w="12700">
            <a:solidFill>
              <a:srgbClr val="22C55E">
                <a:alpha val="3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6393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features.py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1777-dim featurizer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1737360" y="3639312"/>
            <a:ext cx="1353312" cy="566928"/>
          </a:xfrm>
          <a:prstGeom prst="rect">
            <a:avLst/>
          </a:prstGeom>
          <a:solidFill>
            <a:srgbClr val="0A1E10"/>
          </a:solidFill>
          <a:ln w="12700">
            <a:solidFill>
              <a:srgbClr val="22C55E">
                <a:alpha val="3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0" y="36393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models.py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8 classifiers</a:t>
            </a:r>
            <a:endParaRPr lang="en-US" sz="850"/>
          </a:p>
        </p:txBody>
      </p:sp>
      <p:sp>
        <p:nvSpPr>
          <p:cNvPr id="45" name="Shape 43"/>
          <p:cNvSpPr/>
          <p:nvPr/>
        </p:nvSpPr>
        <p:spPr>
          <a:xfrm>
            <a:off x="3200400" y="3639312"/>
            <a:ext cx="1353312" cy="566928"/>
          </a:xfrm>
          <a:prstGeom prst="rect">
            <a:avLst/>
          </a:prstGeom>
          <a:solidFill>
            <a:srgbClr val="0A1E10"/>
          </a:solidFill>
          <a:ln w="12700">
            <a:solidFill>
              <a:srgbClr val="22C55E">
                <a:alpha val="3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36393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preprocessing.py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Scaffold split + SMOTE</a:t>
            </a:r>
            <a:endParaRPr lang="en-US" sz="850"/>
          </a:p>
        </p:txBody>
      </p:sp>
      <p:sp>
        <p:nvSpPr>
          <p:cNvPr id="47" name="Shape 45"/>
          <p:cNvSpPr/>
          <p:nvPr/>
        </p:nvSpPr>
        <p:spPr>
          <a:xfrm>
            <a:off x="4663440" y="3639312"/>
            <a:ext cx="1353312" cy="566928"/>
          </a:xfrm>
          <a:prstGeom prst="rect">
            <a:avLst/>
          </a:prstGeom>
          <a:solidFill>
            <a:srgbClr val="0A1E10"/>
          </a:solidFill>
          <a:ln w="12700">
            <a:solidFill>
              <a:srgbClr val="22C55E">
                <a:alpha val="3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6393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evaluation.py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ROC, PR, MCC, F1</a:t>
            </a:r>
            <a:endParaRPr lang="en-US" sz="850"/>
          </a:p>
        </p:txBody>
      </p:sp>
      <p:sp>
        <p:nvSpPr>
          <p:cNvPr id="49" name="Shape 47"/>
          <p:cNvSpPr/>
          <p:nvPr/>
        </p:nvSpPr>
        <p:spPr>
          <a:xfrm>
            <a:off x="6126480" y="3639312"/>
            <a:ext cx="1353312" cy="566928"/>
          </a:xfrm>
          <a:prstGeom prst="rect">
            <a:avLst/>
          </a:prstGeom>
          <a:solidFill>
            <a:srgbClr val="0A1E10"/>
          </a:solidFill>
          <a:ln w="12700">
            <a:solidFill>
              <a:srgbClr val="22C55E">
                <a:alpha val="32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36393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shap_explainer.py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XAI engine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7589520" y="3639312"/>
            <a:ext cx="1353312" cy="566928"/>
          </a:xfrm>
          <a:prstGeom prst="rect">
            <a:avLst/>
          </a:prstGeom>
          <a:solidFill>
            <a:srgbClr val="0A1E10"/>
          </a:solidFill>
          <a:ln w="12700">
            <a:solidFill>
              <a:srgbClr val="22C55E">
                <a:alpha val="32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0" y="363931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atom_highlighter.py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8F4F2"/>
                </a:solidFill>
              </a:rPr>
              <a:t>Toxicophore scan</a:t>
            </a:r>
            <a:endParaRPr lang="en-US" sz="850"/>
          </a:p>
        </p:txBody>
      </p:sp>
      <p:sp>
        <p:nvSpPr>
          <p:cNvPr id="53" name="Shape 51"/>
          <p:cNvSpPr/>
          <p:nvPr/>
        </p:nvSpPr>
        <p:spPr>
          <a:xfrm>
            <a:off x="182880" y="4462272"/>
            <a:ext cx="8778240" cy="438912"/>
          </a:xfrm>
          <a:prstGeom prst="rect">
            <a:avLst/>
          </a:prstGeom>
          <a:solidFill>
            <a:srgbClr val="060E1A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4622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Tech Stack:  React 18  ·  TailwindCSS  ·  Framer Motion  ·  FastAPI  ·  Python 3.11  ·  scikit-learn  ·  XGBoost  ·  LightGBM  ·  RDKit  ·  SHAP  ·  3Dmol.js  ·  Joblib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C9A7"/>
                </a:solidFill>
              </a:rPr>
              <a:t>FEATURE ENGINEERING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1777-Dimension Molecular Feature Vector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28600" y="1353312"/>
            <a:ext cx="73152" cy="50292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2977" y="1353312"/>
            <a:ext cx="73152" cy="50292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1980" y="1353312"/>
            <a:ext cx="73152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108" y="1353312"/>
            <a:ext cx="73152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5361" y="1353312"/>
            <a:ext cx="121885" cy="50292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246" y="1353312"/>
            <a:ext cx="73152" cy="50292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125" y="1353312"/>
            <a:ext cx="814195" cy="502920"/>
          </a:xfrm>
          <a:prstGeom prst="rect">
            <a:avLst/>
          </a:prstGeom>
          <a:solidFill>
            <a:srgbClr val="009E85">
              <a:alpha val="60000"/>
            </a:srgbClr>
          </a:solidFill>
          <a:ln w="12700">
            <a:solidFill>
              <a:srgbClr val="009E85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5320" y="1353312"/>
            <a:ext cx="4992427" cy="502920"/>
          </a:xfrm>
          <a:prstGeom prst="rect">
            <a:avLst/>
          </a:prstGeom>
          <a:solidFill>
            <a:srgbClr val="009E85">
              <a:alpha val="60000"/>
            </a:srgbClr>
          </a:solidFill>
          <a:ln w="12700">
            <a:solidFill>
              <a:srgbClr val="009E85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747" y="1353312"/>
            <a:ext cx="2496213" cy="502920"/>
          </a:xfrm>
          <a:prstGeom prst="rect">
            <a:avLst/>
          </a:prstGeom>
          <a:solidFill>
            <a:srgbClr val="009E85">
              <a:alpha val="60000"/>
            </a:srgbClr>
          </a:solidFill>
          <a:ln w="12700">
            <a:solidFill>
              <a:srgbClr val="009E85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057400"/>
            <a:ext cx="2743200" cy="841248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057400"/>
            <a:ext cx="54864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1122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C9A7"/>
                </a:solidFill>
              </a:rPr>
              <a:t>5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1005840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Basic physicochemical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1005840" y="24231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MW, LogP, HBD, HBA, TPSA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3154680" y="2057400"/>
            <a:ext cx="2743200" cy="841248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2057400"/>
            <a:ext cx="54864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1122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C9A7"/>
                </a:solidFill>
              </a:rPr>
              <a:t>8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3931920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Structural descriptors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3931920" y="24231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Rings, RotBonds, Fsp3, BertzCT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6080760" y="2057400"/>
            <a:ext cx="2743200" cy="841248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057400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21122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9E0B"/>
                </a:solidFill>
              </a:rPr>
              <a:t>7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6858000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Electronic / Gasteiger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6858000" y="24231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Formal charge + partial charge stats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228600" y="3017520"/>
            <a:ext cx="2743200" cy="841248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017520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0723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9E0B"/>
                </a:solidFill>
              </a:rPr>
              <a:t>6</a:t>
            </a:r>
            <a:endParaRPr lang="en-US" sz="2200"/>
          </a:p>
        </p:txBody>
      </p:sp>
      <p:sp>
        <p:nvSpPr>
          <p:cNvPr id="32" name="Text 30"/>
          <p:cNvSpPr/>
          <p:nvPr/>
        </p:nvSpPr>
        <p:spPr>
          <a:xfrm>
            <a:off x="1005840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Drug-likeness rules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1005840" y="33832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Lipinski Ro5, Veber, lead-likeness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3154680" y="3017520"/>
            <a:ext cx="2743200" cy="841248"/>
          </a:xfrm>
          <a:prstGeom prst="rect">
            <a:avLst/>
          </a:prstGeom>
          <a:solidFill>
            <a:srgbClr val="132138"/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54680" y="3017520"/>
            <a:ext cx="54864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0723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F4444"/>
                </a:solidFill>
              </a:rPr>
              <a:t>25</a:t>
            </a:r>
            <a:endParaRPr lang="en-US" sz="2200"/>
          </a:p>
        </p:txBody>
      </p:sp>
      <p:sp>
        <p:nvSpPr>
          <p:cNvPr id="37" name="Text 35"/>
          <p:cNvSpPr/>
          <p:nvPr/>
        </p:nvSpPr>
        <p:spPr>
          <a:xfrm>
            <a:off x="3931920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Structural alerts (PAINS)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3931920" y="33832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Nitro, epoxide, aniline, quinone…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6080760" y="3017520"/>
            <a:ext cx="2743200" cy="841248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3017520"/>
            <a:ext cx="54864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0488" y="30723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C9A7"/>
                </a:solidFill>
              </a:rPr>
              <a:t>9</a:t>
            </a:r>
            <a:endParaRPr lang="en-US" sz="2200"/>
          </a:p>
        </p:txBody>
      </p:sp>
      <p:sp>
        <p:nvSpPr>
          <p:cNvPr id="42" name="Text 40"/>
          <p:cNvSpPr/>
          <p:nvPr/>
        </p:nvSpPr>
        <p:spPr>
          <a:xfrm>
            <a:off x="6858000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Extended descriptors</a:t>
            </a:r>
            <a:endParaRPr lang="en-US" sz="1050"/>
          </a:p>
        </p:txBody>
      </p:sp>
      <p:sp>
        <p:nvSpPr>
          <p:cNvPr id="43" name="Text 41"/>
          <p:cNvSpPr/>
          <p:nvPr/>
        </p:nvSpPr>
        <p:spPr>
          <a:xfrm>
            <a:off x="6858000" y="33832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QED, stereocenters, EState, LabuteASA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228600" y="3977640"/>
            <a:ext cx="2743200" cy="841248"/>
          </a:xfrm>
          <a:prstGeom prst="rect">
            <a:avLst/>
          </a:prstGeom>
          <a:solidFill>
            <a:srgbClr val="132138"/>
          </a:solidFill>
          <a:ln w="12700">
            <a:solidFill>
              <a:srgbClr val="009E85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3977640"/>
            <a:ext cx="54864" cy="841248"/>
          </a:xfrm>
          <a:prstGeom prst="rect">
            <a:avLst/>
          </a:prstGeom>
          <a:solidFill>
            <a:srgbClr val="009E85"/>
          </a:solidFill>
          <a:ln w="12700">
            <a:solidFill>
              <a:srgbClr val="009E8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" y="40325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9E85"/>
                </a:solidFill>
              </a:rPr>
              <a:t>167</a:t>
            </a:r>
            <a:endParaRPr lang="en-US" sz="2200"/>
          </a:p>
        </p:txBody>
      </p:sp>
      <p:sp>
        <p:nvSpPr>
          <p:cNvPr id="47" name="Text 45"/>
          <p:cNvSpPr/>
          <p:nvPr/>
        </p:nvSpPr>
        <p:spPr>
          <a:xfrm>
            <a:off x="1005840" y="4050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MACCS keys</a:t>
            </a:r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1005840" y="4343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167-bit structural key fingerprint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3154680" y="3977640"/>
            <a:ext cx="2743200" cy="841248"/>
          </a:xfrm>
          <a:prstGeom prst="rect">
            <a:avLst/>
          </a:prstGeom>
          <a:solidFill>
            <a:srgbClr val="132138"/>
          </a:solidFill>
          <a:ln w="12700">
            <a:solidFill>
              <a:srgbClr val="009E85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54680" y="3977640"/>
            <a:ext cx="54864" cy="841248"/>
          </a:xfrm>
          <a:prstGeom prst="rect">
            <a:avLst/>
          </a:prstGeom>
          <a:solidFill>
            <a:srgbClr val="009E85"/>
          </a:solidFill>
          <a:ln w="12700">
            <a:solidFill>
              <a:srgbClr val="009E8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64408" y="40325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9E85"/>
                </a:solidFill>
              </a:rPr>
              <a:t>1024</a:t>
            </a:r>
            <a:endParaRPr lang="en-US" sz="2200"/>
          </a:p>
        </p:txBody>
      </p:sp>
      <p:sp>
        <p:nvSpPr>
          <p:cNvPr id="52" name="Text 50"/>
          <p:cNvSpPr/>
          <p:nvPr/>
        </p:nvSpPr>
        <p:spPr>
          <a:xfrm>
            <a:off x="3931920" y="4050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Morgan ECFP4</a:t>
            </a:r>
            <a:endParaRPr lang="en-US" sz="1050"/>
          </a:p>
        </p:txBody>
      </p:sp>
      <p:sp>
        <p:nvSpPr>
          <p:cNvPr id="53" name="Text 51"/>
          <p:cNvSpPr/>
          <p:nvPr/>
        </p:nvSpPr>
        <p:spPr>
          <a:xfrm>
            <a:off x="3931920" y="4343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1024-bit circular fingerprint (r=2)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080760" y="3977640"/>
            <a:ext cx="2743200" cy="841248"/>
          </a:xfrm>
          <a:prstGeom prst="rect">
            <a:avLst/>
          </a:prstGeom>
          <a:solidFill>
            <a:srgbClr val="132138"/>
          </a:solidFill>
          <a:ln w="12700">
            <a:solidFill>
              <a:srgbClr val="009E85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3977640"/>
            <a:ext cx="54864" cy="841248"/>
          </a:xfrm>
          <a:prstGeom prst="rect">
            <a:avLst/>
          </a:prstGeom>
          <a:solidFill>
            <a:srgbClr val="009E85"/>
          </a:solidFill>
          <a:ln w="12700">
            <a:solidFill>
              <a:srgbClr val="009E8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40325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9E85"/>
                </a:solidFill>
              </a:rPr>
              <a:t>512</a:t>
            </a:r>
            <a:endParaRPr lang="en-US" sz="2200"/>
          </a:p>
        </p:txBody>
      </p:sp>
      <p:sp>
        <p:nvSpPr>
          <p:cNvPr id="57" name="Text 55"/>
          <p:cNvSpPr/>
          <p:nvPr/>
        </p:nvSpPr>
        <p:spPr>
          <a:xfrm>
            <a:off x="6858000" y="4050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RDKit topological FP</a:t>
            </a:r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6858000" y="4343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512-bit path-based fingerprint</a:t>
            </a:r>
            <a:endParaRPr lang="en-US" sz="900"/>
          </a:p>
        </p:txBody>
      </p:sp>
      <p:sp>
        <p:nvSpPr>
          <p:cNvPr id="59" name="Text 57"/>
          <p:cNvSpPr/>
          <p:nvPr/>
        </p:nvSpPr>
        <p:spPr>
          <a:xfrm>
            <a:off x="228600" y="4818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0C9A7"/>
                </a:solidFill>
              </a:rPr>
              <a:t>→  1777 total raw features after scaffold-split selection: ~900–1100 retained features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22C55E"/>
                </a:solidFill>
              </a:rPr>
              <a:t>MODEL PERFORMANCE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Across All 12 Tox21 Targets</a:t>
            </a:r>
            <a:endParaRPr lang="en-US" sz="260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261872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234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9A7"/>
                </a:solidFill>
              </a:rPr>
              <a:t>vs. Published Baselines (MoleculeNet)</a:t>
            </a:r>
            <a:endParaRPr lang="en-US" sz="11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3429000" cy="15087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Avg AUC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94A3B8"/>
                          </a:solidFill>
                        </a:rPr>
                        <a:t>ECFP + LR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94A3B8"/>
                          </a:solidFill>
                        </a:rPr>
                        <a:t>0.799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94A3B8"/>
                          </a:solidFill>
                        </a:rPr>
                        <a:t>Scaffold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94A3B8"/>
                          </a:solidFill>
                        </a:rPr>
                        <a:t>GCN (MolNet)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94A3B8"/>
                          </a:solidFill>
                        </a:rPr>
                        <a:t>0.829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94A3B8"/>
                          </a:solidFill>
                        </a:rPr>
                        <a:t>Scaffold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94A3B8"/>
                          </a:solidFill>
                        </a:rPr>
                        <a:t>AttentiveFP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94A3B8"/>
                          </a:solidFill>
                        </a:rPr>
                        <a:t>0.857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94A3B8"/>
                          </a:solidFill>
                        </a:rPr>
                        <a:t>Scaffold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00C9A7"/>
                          </a:solidFill>
                        </a:rPr>
                        <a:t>ToxScout Ens.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00C9A7"/>
                          </a:solidFill>
                        </a:rPr>
                        <a:t>0.838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00C9A7"/>
                          </a:solidFill>
                        </a:rPr>
                        <a:t>Scaffold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3218688"/>
            <a:ext cx="3429000" cy="777240"/>
          </a:xfrm>
          <a:prstGeom prst="rect">
            <a:avLst/>
          </a:prstGeom>
          <a:solidFill>
            <a:srgbClr val="132138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0" y="32735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</a:rPr>
              <a:t>PR-AUC Baseline</a:t>
            </a:r>
            <a:endParaRPr lang="en-US" sz="1000"/>
          </a:p>
        </p:txBody>
      </p:sp>
      <p:sp>
        <p:nvSpPr>
          <p:cNvPr id="10" name="Text 6"/>
          <p:cNvSpPr/>
          <p:nvPr/>
        </p:nvSpPr>
        <p:spPr>
          <a:xfrm>
            <a:off x="5669280" y="35387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Dataset baseline ~0.05 (imbalanced).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8F4F2"/>
                </a:solidFill>
              </a:rPr>
              <a:t>ToxScout avg PR-AUC: 0.270 — 5.4× improvement</a:t>
            </a:r>
            <a:endParaRPr lang="en-US" sz="950"/>
          </a:p>
        </p:txBody>
      </p:sp>
      <p:sp>
        <p:nvSpPr>
          <p:cNvPr id="11" name="Shape 7"/>
          <p:cNvSpPr/>
          <p:nvPr/>
        </p:nvSpPr>
        <p:spPr>
          <a:xfrm>
            <a:off x="228600" y="4343400"/>
            <a:ext cx="1234440" cy="548640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8600" y="4343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2C55E"/>
                </a:solidFill>
              </a:rPr>
              <a:t>83.2</a:t>
            </a:r>
            <a:r>
              <a:rPr lang="en-US" sz="1800" b="1" dirty="0">
                <a:solidFill>
                  <a:srgbClr val="22C55E"/>
                </a:solidFill>
              </a:rPr>
              <a:t>%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28600" y="4663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Accuracy</a:t>
            </a:r>
            <a:endParaRPr lang="en-US" sz="900"/>
          </a:p>
        </p:txBody>
      </p:sp>
      <p:sp>
        <p:nvSpPr>
          <p:cNvPr id="14" name="Shape 10"/>
          <p:cNvSpPr/>
          <p:nvPr/>
        </p:nvSpPr>
        <p:spPr>
          <a:xfrm>
            <a:off x="1581912" y="4343400"/>
            <a:ext cx="1234440" cy="548640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581912" y="4343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2C55E"/>
                </a:solidFill>
              </a:rPr>
              <a:t>0.71</a:t>
            </a:r>
            <a:endParaRPr lang="en-US" sz="1800"/>
          </a:p>
        </p:txBody>
      </p:sp>
      <p:sp>
        <p:nvSpPr>
          <p:cNvPr id="16" name="Text 12"/>
          <p:cNvSpPr/>
          <p:nvPr/>
        </p:nvSpPr>
        <p:spPr>
          <a:xfrm>
            <a:off x="1581912" y="4663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F1 Score</a:t>
            </a:r>
            <a:endParaRPr lang="en-US" sz="900"/>
          </a:p>
        </p:txBody>
      </p:sp>
      <p:sp>
        <p:nvSpPr>
          <p:cNvPr id="17" name="Shape 13"/>
          <p:cNvSpPr/>
          <p:nvPr/>
        </p:nvSpPr>
        <p:spPr>
          <a:xfrm>
            <a:off x="2935224" y="4343400"/>
            <a:ext cx="1234440" cy="548640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35224" y="4343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2C55E"/>
                </a:solidFill>
              </a:rPr>
              <a:t>0.58</a:t>
            </a:r>
            <a:endParaRPr lang="en-US" sz="1800"/>
          </a:p>
        </p:txBody>
      </p:sp>
      <p:sp>
        <p:nvSpPr>
          <p:cNvPr id="19" name="Text 15"/>
          <p:cNvSpPr/>
          <p:nvPr/>
        </p:nvSpPr>
        <p:spPr>
          <a:xfrm>
            <a:off x="2935224" y="4663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MCC</a:t>
            </a:r>
            <a:endParaRPr lang="en-US" sz="900"/>
          </a:p>
        </p:txBody>
      </p:sp>
      <p:sp>
        <p:nvSpPr>
          <p:cNvPr id="20" name="Shape 16"/>
          <p:cNvSpPr/>
          <p:nvPr/>
        </p:nvSpPr>
        <p:spPr>
          <a:xfrm>
            <a:off x="4288536" y="4343400"/>
            <a:ext cx="1234440" cy="548640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88536" y="4343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2C55E"/>
                </a:solidFill>
              </a:rPr>
              <a:t>0.270</a:t>
            </a:r>
            <a:endParaRPr lang="en-US" sz="1800"/>
          </a:p>
        </p:txBody>
      </p:sp>
      <p:sp>
        <p:nvSpPr>
          <p:cNvPr id="22" name="Text 18"/>
          <p:cNvSpPr/>
          <p:nvPr/>
        </p:nvSpPr>
        <p:spPr>
          <a:xfrm>
            <a:off x="4288536" y="4663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PR-AUC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22C55E"/>
                </a:solidFill>
              </a:rPr>
              <a:t>RIGOROUS VALIDATION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Evaluation Methodology</a:t>
            </a:r>
            <a:endParaRPr lang="en-US" sz="25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C55E"/>
                </a:solidFill>
              </a:rPr>
              <a:t>Rigorous Fixes Applied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73936"/>
            <a:ext cx="237744" cy="237744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</a:rPr>
              <a:t>✓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603504" y="17007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2C55E"/>
                </a:solidFill>
              </a:rPr>
              <a:t>Scaffold split enabled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03504" y="19019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USE_SCAFFOLD_SPLIT = True — Bemis-Murcko prevents leakage from similar structures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228600" y="2185416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95144"/>
            <a:ext cx="237744" cy="237744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9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</a:rPr>
              <a:t>✓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603504" y="2221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2C55E"/>
                </a:solidFill>
              </a:rPr>
              <a:t>ZINC250k used in training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603504" y="2423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Population statistics computed from 250K molecules used to contextualise Tox21 features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28600" y="2706624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816352"/>
            <a:ext cx="237744" cy="237744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16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</a:rPr>
              <a:t>✓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603504" y="2743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2C55E"/>
                </a:solidFill>
              </a:rPr>
              <a:t>Counterfactual endpoint live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603504" y="29443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/api/counterfactual removes highest-SHAP toxic substructure and re-predicts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27432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</a:rPr>
              <a:t>✓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228600" y="3749040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858768"/>
            <a:ext cx="237744" cy="237744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</a:rPr>
              <a:t>✓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603504" y="3785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2C55E"/>
                </a:solidFill>
              </a:rPr>
              <a:t>Benchmark table added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603504" y="39867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README compares ToxScout vs GCN, AttentiveFP, ECFP+LR on scaffold-split Tox21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228600" y="4270248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379976"/>
            <a:ext cx="237744" cy="237744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379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</a:rPr>
              <a:t>✓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603504" y="43068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2C55E"/>
                </a:solidFill>
              </a:rPr>
              <a:t>demo.py one-click verifier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603504" y="4507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Trains lightweight model, runs aspirin/thalidomide/</a:t>
            </a:r>
            <a:r>
              <a:rPr lang="en-US" sz="900" err="1">
                <a:solidFill>
                  <a:srgbClr val="94A3B8"/>
                </a:solidFill>
              </a:rPr>
              <a:t>vioxx</a:t>
            </a:r>
            <a:r>
              <a:rPr lang="en-US" sz="900">
                <a:solidFill>
                  <a:srgbClr val="94A3B8"/>
                </a:solidFill>
              </a:rPr>
              <a:t> 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4754880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C9A7"/>
                </a:solidFill>
              </a:rPr>
              <a:t>Evaluation Methodology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4709160" y="1664208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7007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C9A7"/>
                </a:solidFill>
              </a:rPr>
              <a:t>5-Fold Stratified CV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4828032" y="19019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Train AUC vs Test AUC gap ≤0.05 on all models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4709160" y="2185416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2219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C9A7"/>
                </a:solidFill>
              </a:rPr>
              <a:t>Scaffold-Split AUC</a:t>
            </a:r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4828032" y="242316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More conservative than random — reflects real generalisation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4709160" y="2706624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27432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C9A7"/>
                </a:solidFill>
              </a:rPr>
              <a:t>ROC-AUC per endpoint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4828032" y="294436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All 12 Tox21 targets individually reported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4709160" y="3227832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2644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C9A7"/>
                </a:solidFill>
              </a:rPr>
              <a:t>PR-AUC (class imbalance)</a:t>
            </a:r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4828032" y="346557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Baseline 0.05 → ToxScout avg 0.270 (5.4× gain)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4709160" y="3749040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37856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C9A7"/>
                </a:solidFill>
              </a:rPr>
              <a:t>MCC + Balanced Accuracy</a:t>
            </a:r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4828032" y="39867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Class-imbalance robust metrics alongside F1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4709160" y="4270248"/>
            <a:ext cx="4206240" cy="45720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43068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C9A7"/>
                </a:solidFill>
              </a:rPr>
              <a:t>Threshold sensitivity table</a:t>
            </a:r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4828032" y="450799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Precision/recall/F1 plotted across 0.1–0.9 threshold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82880"/>
            <a:ext cx="3657600" cy="3657600"/>
          </a:xfrm>
          <a:prstGeom prst="ellipse">
            <a:avLst/>
          </a:prstGeom>
          <a:solidFill>
            <a:srgbClr val="00C9A7">
              <a:alpha val="6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ToxScout AI</a:t>
            </a:r>
            <a:endParaRPr lang="en-US" sz="640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00C9A7"/>
                </a:solidFill>
              </a:rPr>
              <a:t>Smarter Drug Discovery Starts Here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128016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423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C9A7"/>
                </a:solidFill>
              </a:rPr>
              <a:t>12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Tox21 endpoints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1874520" y="2395728"/>
            <a:ext cx="128016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74520" y="2423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C9A7"/>
                </a:solidFill>
              </a:rPr>
              <a:t>8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87452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ML models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291840" y="2395728"/>
            <a:ext cx="128016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2423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C9A7"/>
                </a:solidFill>
              </a:rPr>
              <a:t>0.892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best ROC-AUC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4709160" y="2395728"/>
            <a:ext cx="128016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2423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C9A7"/>
                </a:solidFill>
              </a:rPr>
              <a:t>1777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470916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feature dims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6126480" y="2395728"/>
            <a:ext cx="128016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423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C9A7"/>
                </a:solidFill>
              </a:rPr>
              <a:t>3-layer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XAI stack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7543800" y="2395728"/>
            <a:ext cx="1280160" cy="822960"/>
          </a:xfrm>
          <a:prstGeom prst="rect">
            <a:avLst/>
          </a:prstGeom>
          <a:solidFill>
            <a:srgbClr val="132138"/>
          </a:solidFill>
          <a:ln w="12700">
            <a:solidFill>
              <a:srgbClr val="00C9A7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43800" y="2423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C9A7"/>
                </a:solidFill>
              </a:rPr>
              <a:t>0.4s</a:t>
            </a:r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754380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prediction time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1371600" y="3401568"/>
            <a:ext cx="6400800" cy="45720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C9A7"/>
                </a:solidFill>
              </a:rPr>
              <a:t>Team ToxScouts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457200" y="3867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8F4F2"/>
                </a:solidFill>
              </a:rPr>
              <a:t>Srijan Keshri  ·  Satvik Shrivastava  ·  Naman Namdev  ·  Shivam Rajoriya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94A3B8"/>
                </a:solidFill>
              </a:rPr>
              <a:t>Codecure AI Hackathon  ·  IIT BHU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>
                <a:solidFill>
                  <a:srgbClr val="00C9A7"/>
                </a:solidFill>
              </a:rPr>
              <a:t>GitHub:</a:t>
            </a:r>
            <a:r>
              <a:rPr lang="en-US" sz="1000" i="1">
                <a:solidFill>
                  <a:srgbClr val="00C9A7"/>
                </a:solidFill>
                <a:ea typeface="+mn-lt"/>
                <a:cs typeface="+mn-lt"/>
              </a:rPr>
              <a:t> </a:t>
            </a:r>
            <a:r>
              <a:rPr lang="en-US" sz="1000">
                <a:solidFill>
                  <a:srgbClr val="00C9A7"/>
                </a:solidFill>
                <a:ea typeface="+mn-lt"/>
                <a:cs typeface="+mn-lt"/>
              </a:rPr>
              <a:t>https://github.com/logicodesk/codecure-aiagent.git</a:t>
            </a:r>
            <a:endParaRPr lang="en-US" sz="1000" i="1">
              <a:solidFill>
                <a:srgbClr val="00C9A7"/>
              </a:solidFill>
              <a:ea typeface="+mn-lt"/>
              <a:cs typeface="+mn-lt"/>
            </a:endParaRPr>
          </a:p>
          <a:p>
            <a:pPr algn="ctr"/>
            <a:r>
              <a:rPr lang="en-US" sz="1000" i="1" err="1">
                <a:solidFill>
                  <a:srgbClr val="00C9A7"/>
                </a:solidFill>
                <a:ea typeface="+mn-lt"/>
                <a:cs typeface="+mn-lt"/>
              </a:rPr>
              <a:t>Vercel</a:t>
            </a:r>
            <a:r>
              <a:rPr lang="en-US" sz="1000" i="1">
                <a:solidFill>
                  <a:srgbClr val="00C9A7"/>
                </a:solidFill>
              </a:rPr>
              <a:t>: https://codecure-aiagent.vercel.app/</a:t>
            </a:r>
            <a:endParaRPr lang="en-US" sz="1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1748</Words>
  <Application>Microsoft Office PowerPoint</Application>
  <PresentationFormat>On-screen Show (16:9)</PresentationFormat>
  <Paragraphs>314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ToxScout AI — Codecure Hackathon</dc:title>
  <dc:subject>PptxGenJS Presentation</dc:subject>
  <dc:creator>Team ToxScouts</dc:creator>
  <cp:lastModifiedBy>Satvik Shrivastava</cp:lastModifiedBy>
  <cp:revision>1</cp:revision>
  <dcterms:created xsi:type="dcterms:W3CDTF">2026-04-03T15:23:30Z</dcterms:created>
  <dcterms:modified xsi:type="dcterms:W3CDTF">2026-04-05T10:58:27Z</dcterms:modified>
</cp:coreProperties>
</file>